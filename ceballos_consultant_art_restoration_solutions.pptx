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06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Brief · Patrimonio Vivo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937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Brief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Evidence-to-Proposal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AI-enabled workflow for Patrimonio Vivo Conservación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knowledge already exists.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finding and reusing it quickly.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452360" y="1078992"/>
            <a:ext cx="3703320" cy="0"/>
          </a:xfrm>
          <a:prstGeom prst="line">
            <a:avLst/>
          </a:prstGeom>
          <a:noFill/>
          <a:ln w="27940">
            <a:solidFill>
              <a:srgbClr val="B590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452360" y="1645920"/>
            <a:ext cx="2926080" cy="0"/>
          </a:xfrm>
          <a:prstGeom prst="line">
            <a:avLst/>
          </a:prstGeom>
          <a:noFill/>
          <a:ln w="2032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452360" y="2212848"/>
            <a:ext cx="3520440" cy="0"/>
          </a:xfrm>
          <a:prstGeom prst="line">
            <a:avLst/>
          </a:prstGeom>
          <a:noFill/>
          <a:ln w="2032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452360" y="2779776"/>
            <a:ext cx="2468880" cy="0"/>
          </a:xfrm>
          <a:prstGeom prst="line">
            <a:avLst/>
          </a:prstGeom>
          <a:noFill/>
          <a:ln w="2032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452360" y="4663439"/>
            <a:ext cx="3474720" cy="376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257"/>
                </a:solidFill>
                <a:latin typeface="Aptos" pitchFamily="34" charset="0"/>
              </a:rPr>
              <a:t>Consultant: Gretel Ceballos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A6257"/>
                </a:solidFill>
                <a:latin typeface="Aptos" pitchFamily="34" charset="0"/>
              </a:rPr>
              <a:t>Client: Ugo </a:t>
            </a:r>
            <a:r>
              <a:rPr lang="en-US" sz="1200" dirty="0" err="1">
                <a:solidFill>
                  <a:srgbClr val="6A6257"/>
                </a:solidFill>
                <a:latin typeface="Aptos" pitchFamily="34" charset="0"/>
              </a:rPr>
              <a:t>Ahukannah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A45A3D"/>
                </a:solidFill>
                <a:latin typeface="Aptos"/>
              </a:rPr>
              <a:t>CLIENT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2B2A"/>
                </a:solidFill>
                <a:latin typeface="Aptos Display"/>
              </a:rPr>
              <a:t>Patrimonio Vivo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496A59"/>
                </a:solidFill>
                <a:latin typeface="Aptos Display"/>
              </a:rPr>
              <a:t>A specialist Spanish conservation-restoration practice working across religious and cultural heritage.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45A3D"/>
                </a:solidFill>
                <a:latin typeface="Aptos Display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6A6257"/>
                </a:solidFill>
                <a:latin typeface="Aptos"/>
              </a:rPr>
              <a:t>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3852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45A3D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505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6257"/>
                </a:solidFill>
                <a:latin typeface="Aptos"/>
              </a:rPr>
              <a:t>studios
Madrid + Seville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93852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45A3D"/>
                </a:solidFill>
                <a:latin typeface="Aptos Display"/>
              </a:rPr>
              <a:t>45–55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45059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6257"/>
                </a:solidFill>
                <a:latin typeface="Aptos"/>
              </a:rPr>
              <a:t>substantial projects
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385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45A3D"/>
                </a:solidFill>
                <a:latin typeface="Aptos Display"/>
              </a:rPr>
              <a:t>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505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6257"/>
                </a:solidFill>
                <a:latin typeface="Aptos"/>
              </a:rPr>
              <a:t>of revenue from
religious heritage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154680"/>
            <a:ext cx="10789920" cy="10972"/>
          </a:xfrm>
          <a:prstGeom prst="rect">
            <a:avLst/>
          </a:prstGeom>
          <a:solidFill>
            <a:srgbClr val="D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A45A3D"/>
                </a:solidFill>
                <a:latin typeface="Aptos"/>
              </a:rPr>
              <a:t>CORE EXPERTISE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5601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D2B2A"/>
                </a:solidFill>
                <a:latin typeface="Aptos Display"/>
              </a:rPr>
              <a:t>Paintings · Altarpieces · Polychrome sculpture
Stone &amp; mural surfaces · Historic interiors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93643"/>
            <a:ext cx="4663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A6257"/>
                </a:solidFill>
                <a:latin typeface="Aptos"/>
              </a:rPr>
              <a:t>The practice combines workshop treatment, on-site conservation, technical diagnosis and preventive conservation.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05856" y="3566160"/>
            <a:ext cx="10972" cy="1965960"/>
          </a:xfrm>
          <a:prstGeom prst="rect">
            <a:avLst/>
          </a:prstGeom>
          <a:solidFill>
            <a:srgbClr val="D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3456432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45A3D"/>
                </a:solidFill>
                <a:latin typeface="Aptos"/>
              </a:rPr>
              <a:t>WHO THEY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4056018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2B2A"/>
                </a:solidFill>
                <a:latin typeface="Aptos Display"/>
              </a:rPr>
              <a:t>Religious institutions · Public bodies
Museums · Foundations · Private collectors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5093643"/>
            <a:ext cx="480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257"/>
                </a:solidFill>
                <a:latin typeface="Aptos"/>
              </a:rPr>
              <a:t>Religious and public-sector work make up most of the portfolio, often involving multiple decision-makers and formal approvals.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6473952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dirty="0">
                <a:solidFill>
                  <a:srgbClr val="6A6257"/>
                </a:solidFill>
                <a:latin typeface="Aptos"/>
              </a:rPr>
              <a:t>Source: Ugo client scenario + sector research · 25 Aug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327648"/>
            <a:ext cx="320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" b="0">
                <a:solidFill>
                  <a:srgbClr val="6A625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heard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Patrimonio Vivo is not short of expertise. It is losing time turning past expertise into the next client proposal.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35–60h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work for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complex proposal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71800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days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71800" y="2715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assessment-to-proposal cycle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2148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45–90m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57800" y="2715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retrieve a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case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43800" y="21488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43800" y="2715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folders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46920" y="2148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46920" y="2715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images,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ready to reuse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10241280" cy="0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CLIENT-CONFIRMED PAIN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4498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 proposal time is lost finding and validating previous evidence, then rewriting it.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16052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FRICTION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4498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Previous reports and project history are spread across PDFs and inconsistently named folders.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Client discovery + follow-up ·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problem is not writing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finding and reusing trusted information from past projects.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PROPOSAL PREPARATION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folders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13711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9456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senior experts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8778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PDFs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2704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12064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images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8400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58368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9669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04672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text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30938" y="2624328"/>
            <a:ext cx="301752" cy="0"/>
          </a:xfrm>
          <a:prstGeom prst="line">
            <a:avLst/>
          </a:prstGeom>
          <a:noFill/>
          <a:ln w="15875">
            <a:solidFill>
              <a:srgbClr val="CDBE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509760" y="24323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again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10241280" cy="0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new proposal asks the team to reconstruct knowledge it already owns. That delays response time and keeps senior experts tied to search and validation work.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79476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IMPLICATION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intervention should not automate restoration. It should make existing evidence easier to find, check and reuse safely.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064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Client discovery + research brief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LOGIC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possible moves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7" y="1170432"/>
            <a:ext cx="1111343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automation would be premature. The right move is the middle path: structured evidence reuse with AI support.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Clean folders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 naming and templates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 risk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777240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Still mostly manual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77724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Limited discovery by meaning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25196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Evidence-to-Proposal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519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case memory + evidence packs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5196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Targets the main bottleneck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251960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Keeps experts in control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25196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be tested with a small pilot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4349933" y="48920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2668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Full proposal copilot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266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drafting automation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2668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 automated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26680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hallucination risk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72668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 early for expert-critical work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3749040" y="1828800"/>
            <a:ext cx="0" cy="3611880"/>
          </a:xfrm>
          <a:prstGeom prst="line">
            <a:avLst/>
          </a:prstGeom>
          <a:noFill/>
          <a:ln w="1270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0" cy="3611880"/>
          </a:xfrm>
          <a:prstGeom prst="line">
            <a:avLst/>
          </a:prstGeom>
          <a:noFill/>
          <a:ln w="1270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Evidence-to-Proposal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controlled internal workflow that turns validated past projects into evidence packs for new proposals.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93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Memory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20440" y="20299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cards for past projects: object, material, treatment, approvals, images and source links.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3000" y="2450592"/>
            <a:ext cx="9784080" cy="0"/>
          </a:xfrm>
          <a:prstGeom prst="line">
            <a:avLst/>
          </a:prstGeom>
          <a:noFill/>
          <a:ln w="1016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98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Search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similar projects by meaning, not just file names or exact keywords.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3255264"/>
            <a:ext cx="9784080" cy="0"/>
          </a:xfrm>
          <a:prstGeom prst="line">
            <a:avLst/>
          </a:prstGeom>
          <a:noFill/>
          <a:ln w="1016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8580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6027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6393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comparable cases, approved wording, images, assumptions and gaps.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4059936"/>
            <a:ext cx="9784080" cy="0"/>
          </a:xfrm>
          <a:prstGeom prst="line">
            <a:avLst/>
          </a:prstGeom>
          <a:noFill/>
          <a:ln w="1016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85800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407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Expert Review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44439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Conservator validates relevance before anything enters the proposal.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4864608"/>
            <a:ext cx="9784080" cy="0"/>
          </a:xfrm>
          <a:prstGeom prst="line">
            <a:avLst/>
          </a:prstGeom>
          <a:noFill/>
          <a:ln w="1016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" y="56875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helps the team find and assemble evidence. It does not decide how an artwork should be conserved.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in the day-to-day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“Does anyone remember a similar altarpiece project?”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old folders and PDFs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senior experts from memory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Rebuild proposal text manually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missing image context or permissions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15000" y="1536192"/>
            <a:ext cx="0" cy="3538728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96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“Show comparable cases with source-backed evidence.”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2944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3–5 relevant precedents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3401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Linked reports, images and approvals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858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gaps before proposal drafting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4315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validation before reuse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NOT DOING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control by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45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automating the search for knowledge, not professional judgement.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96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past projects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Extract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Suggest comparable cases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85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Assemble evidence packs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Draft reusable sections with 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1874520"/>
            <a:ext cx="0" cy="3108960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EXPERTS DECIDE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395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Diagnosis and treatment method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254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 choices and sampling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2552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Authenticity or 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Heritage approvals and legal checks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technical proposal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5961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scope: automatic diagnosis, autonomous treatment recommendations, legal export decisions, or replacing conservator-restorers.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Client boundary conditions + sector research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small enough to prove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index 14 years of material at once. Prove the workflow in one strong, recent practice area.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623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Madrid · Projects since 2022 · Paintings, altarpieces and polychrome wood · Start with approximately  40–60 well documented cases.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31177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TEAM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145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 senior conservator-restorers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56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documentation coordinator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96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proposal/tender specialist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379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client-development lead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3431177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METHOD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4145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validated Case Cards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556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evidence search on live or shadow proposals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968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traditional vs assisted workflow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5379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expert review as a quality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Client scenario + research brief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know it worked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pilot is not judged by “does the AI sound good?” It is judged by whether proposal work gets faster without weakening technical control.</a:t>
            </a:r>
            <a:endParaRPr lang="en-US" sz="195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F3A5AA5-1EF2-5CF3-1433-36154875D6EE}"/>
              </a:ext>
            </a:extLst>
          </p:cNvPr>
          <p:cNvGrpSpPr/>
          <p:nvPr/>
        </p:nvGrpSpPr>
        <p:grpSpPr>
          <a:xfrm>
            <a:off x="822960" y="2817222"/>
            <a:ext cx="2468880" cy="979716"/>
            <a:chOff x="822960" y="2817222"/>
            <a:chExt cx="2468880" cy="979716"/>
          </a:xfrm>
        </p:grpSpPr>
        <p:sp>
          <p:nvSpPr>
            <p:cNvPr id="5" name="Text 3"/>
            <p:cNvSpPr/>
            <p:nvPr/>
          </p:nvSpPr>
          <p:spPr>
            <a:xfrm>
              <a:off x="822960" y="2817222"/>
              <a:ext cx="24688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A45A3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12 → 7</a:t>
              </a:r>
              <a:endParaRPr lang="en-US" sz="3000" dirty="0">
                <a:solidFill>
                  <a:srgbClr val="A45A3D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822960" y="3449466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A625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working days from </a:t>
              </a:r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6A625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assessment to proposal</a:t>
              </a:r>
              <a:endParaRPr lang="en-US" sz="13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8AE947A-859B-5386-0FDD-80BB42EF75FA}"/>
              </a:ext>
            </a:extLst>
          </p:cNvPr>
          <p:cNvGrpSpPr/>
          <p:nvPr/>
        </p:nvGrpSpPr>
        <p:grpSpPr>
          <a:xfrm>
            <a:off x="4336870" y="2817222"/>
            <a:ext cx="6420389" cy="979716"/>
            <a:chOff x="4336870" y="2817222"/>
            <a:chExt cx="6420389" cy="979716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7DE210F-7BB9-F681-564E-41A6873C8AE3}"/>
                </a:ext>
              </a:extLst>
            </p:cNvPr>
            <p:cNvGrpSpPr/>
            <p:nvPr/>
          </p:nvGrpSpPr>
          <p:grpSpPr>
            <a:xfrm>
              <a:off x="4336870" y="2817222"/>
              <a:ext cx="2468880" cy="979716"/>
              <a:chOff x="3857900" y="2817222"/>
              <a:chExt cx="2468880" cy="979716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3857900" y="2817222"/>
                <a:ext cx="2468880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A45A3D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&lt;10m</a:t>
                </a:r>
                <a:endParaRPr lang="en-US" sz="30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857900" y="3449466"/>
                <a:ext cx="24688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 find a usable </a:t>
                </a:r>
              </a:p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comparable case</a:t>
                </a:r>
                <a:endParaRPr lang="en-US" sz="1300" dirty="0"/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BD6E626-9F98-6C2F-AA6D-67A31195BC35}"/>
                </a:ext>
              </a:extLst>
            </p:cNvPr>
            <p:cNvGrpSpPr/>
            <p:nvPr/>
          </p:nvGrpSpPr>
          <p:grpSpPr>
            <a:xfrm>
              <a:off x="6495505" y="2817222"/>
              <a:ext cx="2468880" cy="979716"/>
              <a:chOff x="6217920" y="2817222"/>
              <a:chExt cx="2468880" cy="979716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6217920" y="2817222"/>
                <a:ext cx="2468880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A45A3D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100%</a:t>
                </a:r>
                <a:endParaRPr lang="en-US" sz="30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6217920" y="3449466"/>
                <a:ext cx="24688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assisted content linked </a:t>
                </a:r>
              </a:p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 source evidence</a:t>
                </a:r>
                <a:endParaRPr lang="en-US" sz="1300" dirty="0"/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06F16DAE-3B91-A05E-8EFB-C443359F0EE5}"/>
                </a:ext>
              </a:extLst>
            </p:cNvPr>
            <p:cNvGrpSpPr/>
            <p:nvPr/>
          </p:nvGrpSpPr>
          <p:grpSpPr>
            <a:xfrm>
              <a:off x="8654139" y="2817222"/>
              <a:ext cx="2103120" cy="979716"/>
              <a:chOff x="8817426" y="2817222"/>
              <a:chExt cx="2103120" cy="979716"/>
            </a:xfrm>
          </p:grpSpPr>
          <p:sp>
            <p:nvSpPr>
              <p:cNvPr id="11" name="Text 9"/>
              <p:cNvSpPr/>
              <p:nvPr/>
            </p:nvSpPr>
            <p:spPr>
              <a:xfrm>
                <a:off x="8817426" y="2817222"/>
                <a:ext cx="2103120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A45A3D"/>
                    </a:solidFill>
                    <a:latin typeface="Aptos Display" pitchFamily="34" charset="0"/>
                    <a:ea typeface="Aptos Display" pitchFamily="34" charset="-122"/>
                    <a:cs typeface="Aptos Display" pitchFamily="34" charset="-120"/>
                  </a:rPr>
                  <a:t>No drop</a:t>
                </a:r>
                <a:endParaRPr lang="en-US" sz="30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8817426" y="3449466"/>
                <a:ext cx="210312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in technical </a:t>
                </a:r>
              </a:p>
              <a:p>
                <a:pPr marL="0" indent="0" algn="ctr">
                  <a:buNone/>
                </a:pPr>
                <a:r>
                  <a:rPr lang="en-US" sz="1300" dirty="0" err="1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eview</a:t>
                </a:r>
                <a:r>
                  <a:rPr lang="en-US" sz="1300" dirty="0">
                    <a:solidFill>
                      <a:srgbClr val="6A625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quality</a:t>
                </a:r>
                <a:endParaRPr lang="en-US" sz="1300" dirty="0"/>
              </a:p>
            </p:txBody>
          </p:sp>
        </p:grpSp>
      </p:grpSp>
      <p:sp>
        <p:nvSpPr>
          <p:cNvPr id="13" name="Shape 11"/>
          <p:cNvSpPr/>
          <p:nvPr/>
        </p:nvSpPr>
        <p:spPr>
          <a:xfrm>
            <a:off x="822960" y="4423955"/>
            <a:ext cx="10241280" cy="0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68680" y="4881155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MEASURES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283057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expert search time · Proposal rework · Evidence pack completeness · Voluntary user adoption · Documentation quality 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Client success criteria + follow-up responses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92FA58D-F1A7-86CD-BFFA-2B7A528719A6}"/>
              </a:ext>
            </a:extLst>
          </p:cNvPr>
          <p:cNvSpPr/>
          <p:nvPr/>
        </p:nvSpPr>
        <p:spPr>
          <a:xfrm>
            <a:off x="5946864" y="2116839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96A59"/>
                </a:solidFill>
                <a:latin typeface="Aptos" pitchFamily="34" charset="0"/>
              </a:rPr>
              <a:t>PROPOSED PILOT  TARGET</a:t>
            </a:r>
            <a:endParaRPr lang="en-US" sz="15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552C672-F861-37A8-A66E-B9C06BE531A3}"/>
              </a:ext>
            </a:extLst>
          </p:cNvPr>
          <p:cNvSpPr/>
          <p:nvPr/>
        </p:nvSpPr>
        <p:spPr>
          <a:xfrm>
            <a:off x="1051560" y="2116839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45A3D"/>
                </a:solidFill>
                <a:latin typeface="Aptos" pitchFamily="34" charset="0"/>
              </a:rPr>
              <a:t>CLIENT PRIORITY</a:t>
            </a:r>
            <a:endParaRPr lang="en-US" sz="1500" dirty="0">
              <a:solidFill>
                <a:srgbClr val="A45A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/ NEXT STEP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D2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a focused pilot to test whether Patrimonio Vivo can reduce proposal turnaround from 12 to 7 working days without reducing technical quality or professional control.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3035808"/>
            <a:ext cx="10149840" cy="0"/>
          </a:xfrm>
          <a:prstGeom prst="line">
            <a:avLst/>
          </a:prstGeom>
          <a:noFill/>
          <a:ln w="15240">
            <a:solidFill>
              <a:srgbClr val="D8CBB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91437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5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PILOT PROVES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0873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A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the same evidence layer to preventive-conservation offers, tender responses and international evidence packs for a low-risk Netherlands market test.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6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PRINCIPLE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394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496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where the pain is measurable. Expand only after the workflow earns trust.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A6B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1029</Words>
  <Application>Microsoft Macintosh PowerPoint</Application>
  <PresentationFormat>Panorámica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SilverTrust 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Evidence-to-Proposal: Patrimonio Vivo Conservacion</dc:title>
  <dc:subject>AI consulting proposal for Patrimonio Vivo Conservacion</dc:subject>
  <dc:creator>Gretel Ceballos</dc:creator>
  <cp:lastModifiedBy>Gretel Ceballos Bustamante</cp:lastModifiedBy>
  <cp:revision>2</cp:revision>
  <dcterms:created xsi:type="dcterms:W3CDTF">2026-08-26T09:37:32Z</dcterms:created>
  <dcterms:modified xsi:type="dcterms:W3CDTF">2026-08-26T11:12:45Z</dcterms:modified>
</cp:coreProperties>
</file>